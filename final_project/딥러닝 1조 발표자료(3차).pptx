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59" r:id="rId2"/>
    <p:sldId id="384" r:id="rId3"/>
    <p:sldId id="385" r:id="rId4"/>
    <p:sldId id="386" r:id="rId5"/>
    <p:sldId id="388" r:id="rId6"/>
    <p:sldId id="387" r:id="rId7"/>
    <p:sldId id="38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AF7"/>
    <a:srgbClr val="163E64"/>
    <a:srgbClr val="C00000"/>
    <a:srgbClr val="D1D1D1"/>
    <a:srgbClr val="00B050"/>
    <a:srgbClr val="002060"/>
    <a:srgbClr val="042433"/>
    <a:srgbClr val="46B1E1"/>
    <a:srgbClr val="FFFFFF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/>
    <p:restoredTop sz="90952" autoAdjust="0"/>
  </p:normalViewPr>
  <p:slideViewPr>
    <p:cSldViewPr snapToGrid="0">
      <p:cViewPr varScale="1">
        <p:scale>
          <a:sx n="116" d="100"/>
          <a:sy n="116" d="100"/>
        </p:scale>
        <p:origin x="1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C769F-1566-45EE-9949-D149651A1CC0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F6491-8475-4986-B018-C3AF76986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56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FB321-1ECB-090E-BA1D-C53FD8CC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9ECE9E-72A5-59AA-5C30-782DF431C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6B9E3A-CBE6-F3FE-9B3E-139CB4AC7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6B093F-998A-5A74-7A80-1E4019E97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F6491-8475-4986-B018-C3AF769868B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238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F1CE8-3059-9A6D-5ED6-7A8A1046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A8071A-AEB6-B739-2EA2-39953C24A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CECD3D-DACC-1E3B-CE30-7CDF34ED6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3E6BAA-26DE-215A-B6D4-6BFF54FF2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F6491-8475-4986-B018-C3AF769868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541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66EC-B4B8-216F-594A-8CB80CA1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6275B8-F253-3B7A-3337-0E3CBBE48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617CB6-DBCF-E531-2068-ADE294AB0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3DE76-EA45-B93A-22BF-904A884BA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F6491-8475-4986-B018-C3AF769868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221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CA749-32BF-DAF8-CC14-7B044A5E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580EE2-E6A1-9DED-3803-D7D139AC0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C0F7DB-DD92-5683-D85A-AF943D3A9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5D56D8-0359-0245-C661-661FA4309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F6491-8475-4986-B018-C3AF769868B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11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159B4-1A72-14E2-EA0A-D8ACC956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72872E-676C-9BF7-11CD-E3CD7623F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D93BB2-48F9-0CD7-C369-4B052E832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5E08ED-F1F1-D342-59EF-9AF03A065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F6491-8475-4986-B018-C3AF769868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876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8DCDE-B166-69CE-DA2C-171DE5F4E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12A361-22F6-0457-7841-379B3F127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522B2A-44EA-0236-F325-CF1D5565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467256-8C72-D2D6-D057-7296FFD0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486F7-3DDA-6044-8A38-4C34377E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93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3225B-799B-E941-C6A8-FB9F5920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B7639-BB4F-3AEC-5D01-9F5311FFE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4013AB-D513-8161-2882-478C83199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498394-D5AE-B306-8D7F-F34698CF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D1253-6BB3-0EBB-3B40-4E72F473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92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106D1-F7EE-A8E7-0D74-6764A45E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E366FD-C977-99D0-F9EC-108EAF8A8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65A612-9652-1B67-B34B-7975936A3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66A3B2-2B0F-5D06-D5F4-DEC79F74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9C8A84-F8F6-10E0-FC50-4F99E0EF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33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4AEC2-4B6F-0A83-1079-D4F25C81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D9325-C8C6-C64C-D923-2507920E4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CB2D7A-58C8-7514-BC91-40FD2EA49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9921C9-8F23-F971-645B-B91E75CF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C7C02D-D816-26E0-312F-5F3C65D3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39B549-5DAD-2D2B-536E-87B3051A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31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D86C9-3AC4-F6E4-0768-D34D9B97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4B58DB-A9E3-2E35-BB63-BF7AB1AAD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A98FB-AA0F-0B52-108C-A0E147795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9BF313-21F2-54BC-A25C-2FD6DB0CF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1C6F8B-0A38-FD90-548E-0E43241A0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16079BB-DE46-5B57-6F94-6E2CE46C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870837-74E7-3CE3-A6F9-B302AF75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2521DE-17DD-B6D9-E322-E83F9210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85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B05A8-FCDC-EC57-3912-4ECCFED53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3A1C37-87B5-A11E-B4EF-DB1DA252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2E2A5E-34BA-F056-FDE0-9E893FBB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EEC6CA-2EAB-BF73-DD74-90B3A92A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76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6BF316-4587-E271-4FF4-FBA1E20C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6B7C92-AF73-5DD7-F400-058CD304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B5348C-5282-BDB5-28E3-550297CD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976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89B2B-ED55-4499-1169-1FEADCA5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23332-868B-D2F6-D8C8-C1A664861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090F6A-9B7E-74B4-AE62-C053EB36F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681F3E-2FC8-96ED-7570-2F793A9B7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5C3621-FE55-858E-7FA4-D169A762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AD071C-67CE-8524-3E68-FA7757AD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05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238A5-AC36-1B24-ED2B-8D8CF4EC9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CBBB46E-CFAE-E5F7-F6BE-0619B6927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E366ED-07EF-E951-2ACE-15FE5F252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86FA32-14A2-D751-0D5D-CB7FAF71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83D711-CA1E-17A9-0F98-67CBEAE66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60E27-D1E3-19C3-689A-70C56D248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06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B142B-ECA2-D088-9AB9-F7F50A4B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EB6478-CDEA-8A20-E2E5-D03719D63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EB21CF-1E42-9EC3-063D-191BD243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E9C7FF-F8A6-5A46-D585-8635B1D8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98290-CC34-2997-D8DA-DEDF0C41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34874E-BC79-52DB-48B0-1917081FD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20E3ED-1B4F-B104-C7C9-A7A75563B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2315A7-6CB5-BD50-2E79-5D748077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2F9CC-C92E-2496-EF95-D6AF7A12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4E55A-A4A5-DD53-0B81-7EB0EBBB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238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B89B743-F1AA-BCCE-655E-11D2EB97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0C1B81-8BD7-4E31-0BDE-6C8A96E3E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F749A7-CD83-D993-2F69-B64AD90B9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188EE-4847-469E-94BC-D0035AE21EF1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B0141B-E6F0-77D5-BBEE-4F1105216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70ED0-5204-6C45-8701-2EE14B8E4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AAFC0-63AC-4055-AE87-F8EE24067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43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7DCFF1-DED1-4D03-D57C-841FBE340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-13424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69660A-F006-0BC2-4382-3CB5314C4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6576128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298BF-0C5B-6E82-A295-C0350127A40F}"/>
              </a:ext>
            </a:extLst>
          </p:cNvPr>
          <p:cNvSpPr txBox="1"/>
          <p:nvPr/>
        </p:nvSpPr>
        <p:spPr>
          <a:xfrm>
            <a:off x="353536" y="1720468"/>
            <a:ext cx="12342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25-2 </a:t>
            </a:r>
            <a:r>
              <a:rPr lang="ko-KR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딥러닝 기말 프로젝트</a:t>
            </a:r>
            <a:endParaRPr lang="en-US" altLang="ko-K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7E194-BD0B-937C-3AF1-1A1A347C7EAA}"/>
              </a:ext>
            </a:extLst>
          </p:cNvPr>
          <p:cNvSpPr txBox="1"/>
          <p:nvPr/>
        </p:nvSpPr>
        <p:spPr>
          <a:xfrm>
            <a:off x="353536" y="2720651"/>
            <a:ext cx="1082132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4800" b="1" dirty="0"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오디오 노이즈 제거 모델 설계 및 구현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7EDD7-C6D1-ABB8-25ED-C9F3F1F7F3B0}"/>
              </a:ext>
            </a:extLst>
          </p:cNvPr>
          <p:cNvSpPr txBox="1"/>
          <p:nvPr/>
        </p:nvSpPr>
        <p:spPr>
          <a:xfrm>
            <a:off x="7003075" y="3926887"/>
            <a:ext cx="46848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맑은 고딕"/>
              </a:rPr>
              <a:t>   </a:t>
            </a:r>
            <a:r>
              <a:rPr lang="en-US" altLang="ko-KR" sz="2400" dirty="0">
                <a:latin typeface="+mj-lt"/>
                <a:ea typeface="맑은 고딕"/>
              </a:rPr>
              <a:t> 1</a:t>
            </a:r>
            <a:r>
              <a:rPr lang="ko-KR" altLang="en-US" sz="2400" dirty="0">
                <a:latin typeface="+mj-lt"/>
                <a:ea typeface="맑은 고딕"/>
              </a:rPr>
              <a:t>조</a:t>
            </a:r>
            <a:r>
              <a:rPr lang="en-US" altLang="ko-KR" sz="2400" dirty="0">
                <a:latin typeface="+mj-lt"/>
                <a:ea typeface="맑은 고딕"/>
              </a:rPr>
              <a:t>(</a:t>
            </a:r>
            <a:r>
              <a:rPr lang="ko-KR" altLang="en-US" sz="2400" dirty="0">
                <a:latin typeface="+mj-lt"/>
                <a:ea typeface="맑은 고딕"/>
              </a:rPr>
              <a:t>곽나경</a:t>
            </a:r>
            <a:r>
              <a:rPr lang="en-US" altLang="ko-KR" sz="2400" dirty="0">
                <a:latin typeface="+mj-lt"/>
                <a:ea typeface="맑은 고딕"/>
              </a:rPr>
              <a:t>, </a:t>
            </a:r>
            <a:r>
              <a:rPr lang="ko-KR" altLang="en-US" sz="2400" dirty="0" err="1">
                <a:latin typeface="+mj-lt"/>
                <a:ea typeface="맑은 고딕"/>
              </a:rPr>
              <a:t>이규현</a:t>
            </a:r>
            <a:r>
              <a:rPr lang="en-US" altLang="ko-KR" sz="2400" dirty="0">
                <a:latin typeface="+mj-lt"/>
                <a:ea typeface="맑은 고딕"/>
              </a:rPr>
              <a:t>, </a:t>
            </a:r>
            <a:r>
              <a:rPr lang="ko-KR" altLang="en-US" sz="2400" dirty="0">
                <a:latin typeface="+mj-lt"/>
                <a:ea typeface="맑은 고딕"/>
              </a:rPr>
              <a:t>정세현</a:t>
            </a:r>
            <a:r>
              <a:rPr lang="en-US" altLang="ko-KR" sz="2400" dirty="0">
                <a:latin typeface="+mj-lt"/>
                <a:ea typeface="맑은 고딕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BBE76-C914-3599-7604-7D663962757B}"/>
              </a:ext>
            </a:extLst>
          </p:cNvPr>
          <p:cNvSpPr txBox="1"/>
          <p:nvPr/>
        </p:nvSpPr>
        <p:spPr>
          <a:xfrm>
            <a:off x="7003075" y="4492818"/>
            <a:ext cx="46848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2400" dirty="0">
                <a:latin typeface="+mj-lt"/>
                <a:ea typeface="맑은 고딕"/>
              </a:rPr>
              <a:t>2025.12.04.</a:t>
            </a:r>
          </a:p>
        </p:txBody>
      </p:sp>
    </p:spTree>
    <p:extLst>
      <p:ext uri="{BB962C8B-B14F-4D97-AF65-F5344CB8AC3E}">
        <p14:creationId xmlns:p14="http://schemas.microsoft.com/office/powerpoint/2010/main" val="397860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0AA0-C296-5005-4EA3-58F64E24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69EC6CB-5055-E28B-1B59-0E024971AD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-13424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893A34-0747-D56F-9E20-944FA54140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6576128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C1A05F1-D907-9ACA-F7CD-F5EAF6C8E15F}"/>
              </a:ext>
            </a:extLst>
          </p:cNvPr>
          <p:cNvCxnSpPr>
            <a:cxnSpLocks/>
          </p:cNvCxnSpPr>
          <p:nvPr/>
        </p:nvCxnSpPr>
        <p:spPr>
          <a:xfrm>
            <a:off x="252632" y="1082439"/>
            <a:ext cx="11496255" cy="0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65A42B-7548-2446-7875-F47008A70A02}"/>
              </a:ext>
            </a:extLst>
          </p:cNvPr>
          <p:cNvSpPr txBox="1"/>
          <p:nvPr/>
        </p:nvSpPr>
        <p:spPr>
          <a:xfrm>
            <a:off x="598159" y="1989888"/>
            <a:ext cx="1025985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Times New Roman" panose="02020603050405020304" pitchFamily="18" charset="0"/>
              <a:ea typeface="맑은 고딕" panose="020B0503020000020004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8DC2336-75A5-642B-8BA9-4C8A749313F1}"/>
              </a:ext>
            </a:extLst>
          </p:cNvPr>
          <p:cNvGrpSpPr/>
          <p:nvPr/>
        </p:nvGrpSpPr>
        <p:grpSpPr>
          <a:xfrm>
            <a:off x="411193" y="1386395"/>
            <a:ext cx="6747347" cy="461665"/>
            <a:chOff x="492600" y="1296157"/>
            <a:chExt cx="3077193" cy="46166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50FA925-13A4-1182-C4E3-B1070160B7C6}"/>
                </a:ext>
              </a:extLst>
            </p:cNvPr>
            <p:cNvSpPr/>
            <p:nvPr/>
          </p:nvSpPr>
          <p:spPr>
            <a:xfrm>
              <a:off x="492600" y="1315810"/>
              <a:ext cx="85268" cy="4420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5C4001-6BCD-B587-EA96-34C1C757D2B5}"/>
                </a:ext>
              </a:extLst>
            </p:cNvPr>
            <p:cNvSpPr txBox="1"/>
            <p:nvPr/>
          </p:nvSpPr>
          <p:spPr>
            <a:xfrm>
              <a:off x="577868" y="1296157"/>
              <a:ext cx="29919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U-Net</a:t>
              </a:r>
              <a:r>
                <a:rPr lang="ko-KR" altLang="en-US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이 무엇인가</a:t>
              </a:r>
              <a:r>
                <a:rPr lang="en-US" altLang="ko-KR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?</a:t>
              </a:r>
              <a:endParaRPr lang="ko-KR" altLang="en-US" sz="2400" dirty="0"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endParaRPr>
            </a:p>
          </p:txBody>
        </p:sp>
      </p:grpSp>
      <p:pic>
        <p:nvPicPr>
          <p:cNvPr id="42" name="그림 41" descr="\documentclass{article}&#10;\usepackage{amsmath}&#10;\pagestyle{empty}&#10;\begin{document}&#10;&#10;$&#10;(u_i : integer)&#10;$&#10;&#10;&#10;\end{document}" title="IguanaTex Picture Display">
            <a:extLst>
              <a:ext uri="{FF2B5EF4-FFF2-40B4-BE49-F238E27FC236}">
                <a16:creationId xmlns:a16="http://schemas.microsoft.com/office/drawing/2014/main" id="{0F07F1F6-3AAD-1CBD-20BF-E867776EF2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3614" y="4559485"/>
            <a:ext cx="2103120" cy="381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3502E08-AA8C-A581-B610-FCB92D7A229F}"/>
              </a:ext>
            </a:extLst>
          </p:cNvPr>
          <p:cNvSpPr txBox="1"/>
          <p:nvPr/>
        </p:nvSpPr>
        <p:spPr>
          <a:xfrm>
            <a:off x="252632" y="447871"/>
            <a:ext cx="8533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/>
              <a:t>U-Net: Convolutional Networks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24FAD-A3A7-2F31-8E85-C7FA813CEFD2}"/>
              </a:ext>
            </a:extLst>
          </p:cNvPr>
          <p:cNvSpPr txBox="1"/>
          <p:nvPr/>
        </p:nvSpPr>
        <p:spPr>
          <a:xfrm>
            <a:off x="598159" y="2413335"/>
            <a:ext cx="890469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5875" lvl="1"/>
            <a:r>
              <a:rPr lang="en-US" altLang="ko-KR" sz="2000" dirty="0">
                <a:latin typeface="Times New Roman" panose="02020603050405020304" pitchFamily="18" charset="0"/>
                <a:ea typeface="맑은 고딕" panose="020B0503020000020004" pitchFamily="34" charset="-127"/>
              </a:rPr>
              <a:t>1.</a:t>
            </a:r>
            <a:r>
              <a:rPr lang="ko-KR" altLang="en-US" sz="2000" dirty="0">
                <a:latin typeface="Times New Roman" panose="02020603050405020304" pitchFamily="18" charset="0"/>
                <a:ea typeface="맑은 고딕" panose="020B0503020000020004" pitchFamily="34" charset="-127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맑은 고딕" panose="020B0503020000020004" pitchFamily="34" charset="-127"/>
              </a:rPr>
              <a:t>FCN (Fully Convolutional Network)</a:t>
            </a:r>
            <a:r>
              <a:rPr lang="ko-KR" altLang="en-US" sz="2000" dirty="0">
                <a:latin typeface="Times New Roman" panose="02020603050405020304" pitchFamily="18" charset="0"/>
                <a:ea typeface="맑은 고딕" panose="020B0503020000020004" pitchFamily="34" charset="-127"/>
              </a:rPr>
              <a:t>을 발전시킨 형태</a:t>
            </a:r>
            <a:endParaRPr lang="en-US" altLang="ko-KR" sz="2000" dirty="0">
              <a:latin typeface="Times New Roman" panose="02020603050405020304" pitchFamily="18" charset="0"/>
              <a:ea typeface="맑은 고딕" panose="020B0503020000020004" pitchFamily="34" charset="-127"/>
            </a:endParaRPr>
          </a:p>
          <a:p>
            <a:pPr marL="15875" lvl="1"/>
            <a:endParaRPr lang="en-US" altLang="ko-KR" sz="2000" dirty="0">
              <a:latin typeface="Times New Roman" panose="02020603050405020304" pitchFamily="18" charset="0"/>
              <a:ea typeface="맑은 고딕" panose="020B0503020000020004" pitchFamily="34" charset="-127"/>
            </a:endParaRPr>
          </a:p>
          <a:p>
            <a:pPr marL="15875" lvl="1"/>
            <a:r>
              <a:rPr lang="en-US" altLang="ko-KR" sz="2000" dirty="0">
                <a:latin typeface="Times New Roman" panose="02020603050405020304" pitchFamily="18" charset="0"/>
                <a:ea typeface="맑은 고딕" panose="020B0503020000020004" pitchFamily="34" charset="-127"/>
              </a:rPr>
              <a:t>2.</a:t>
            </a:r>
            <a:r>
              <a:rPr lang="ko-KR" altLang="en-US" sz="2000" dirty="0">
                <a:latin typeface="Times New Roman" panose="02020603050405020304" pitchFamily="18" charset="0"/>
                <a:ea typeface="맑은 고딕" panose="020B0503020000020004" pitchFamily="34" charset="-127"/>
              </a:rPr>
              <a:t> 입력 데이터로부터 우리가 원하는 특징을 </a:t>
            </a:r>
            <a:r>
              <a:rPr lang="ko-KR" altLang="en-US" sz="2000" dirty="0" err="1">
                <a:latin typeface="Times New Roman" panose="02020603050405020304" pitchFamily="18" charset="0"/>
                <a:ea typeface="맑은 고딕" panose="020B0503020000020004" pitchFamily="34" charset="-127"/>
              </a:rPr>
              <a:t>강조시킨</a:t>
            </a:r>
            <a:r>
              <a:rPr lang="ko-KR" altLang="en-US" sz="2000" dirty="0">
                <a:latin typeface="Times New Roman" panose="02020603050405020304" pitchFamily="18" charset="0"/>
                <a:ea typeface="맑은 고딕" panose="020B0503020000020004" pitchFamily="34" charset="-127"/>
              </a:rPr>
              <a:t> 이미지 생성이 가능하다</a:t>
            </a:r>
            <a:r>
              <a:rPr lang="en-US" altLang="ko-KR" sz="2000" dirty="0">
                <a:latin typeface="Times New Roman" panose="02020603050405020304" pitchFamily="18" charset="0"/>
                <a:ea typeface="맑은 고딕" panose="020B0503020000020004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032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A1146-25D7-1050-2437-2C6E65CED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57E5E3-C505-4030-2CF2-E6FDDF1382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-13424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0EF0FD-4464-7B13-778F-783F691B22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6576128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00EDB44-1294-013F-004B-472A2735BD2B}"/>
              </a:ext>
            </a:extLst>
          </p:cNvPr>
          <p:cNvCxnSpPr>
            <a:cxnSpLocks/>
          </p:cNvCxnSpPr>
          <p:nvPr/>
        </p:nvCxnSpPr>
        <p:spPr>
          <a:xfrm>
            <a:off x="252632" y="1082439"/>
            <a:ext cx="11496255" cy="0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1FAE79-F9B4-A380-C1C8-4EB3C62636DB}"/>
              </a:ext>
            </a:extLst>
          </p:cNvPr>
          <p:cNvSpPr txBox="1"/>
          <p:nvPr/>
        </p:nvSpPr>
        <p:spPr>
          <a:xfrm>
            <a:off x="6705599" y="1989888"/>
            <a:ext cx="4687615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CNN block : Conv -&gt; BN -&gt;  </a:t>
            </a:r>
            <a:r>
              <a:rPr lang="en-US" altLang="ko-KR" sz="2000" dirty="0" err="1">
                <a:latin typeface="Avenir Book" panose="02000503020000020003" pitchFamily="2" charset="0"/>
                <a:ea typeface="맑은 고딕" panose="020B0503020000020004" pitchFamily="34" charset="-127"/>
              </a:rPr>
              <a:t>ReLU</a:t>
            </a: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max pool : 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이미지 압축 </a:t>
            </a: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(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해상도 감소</a:t>
            </a: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)</a:t>
            </a:r>
          </a:p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Up conv : transpose conv</a:t>
            </a:r>
          </a:p>
          <a:p>
            <a:pPr lvl="1"/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이미지 공간 확장</a:t>
            </a: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Skip connection : 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위치 정보 보존</a:t>
            </a: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87D302C-2F65-E817-927D-A6A99FA6CB76}"/>
              </a:ext>
            </a:extLst>
          </p:cNvPr>
          <p:cNvGrpSpPr/>
          <p:nvPr/>
        </p:nvGrpSpPr>
        <p:grpSpPr>
          <a:xfrm>
            <a:off x="411193" y="1386395"/>
            <a:ext cx="6747347" cy="461665"/>
            <a:chOff x="492600" y="1296157"/>
            <a:chExt cx="3077193" cy="46166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A248353-BB53-DE27-1A57-6CE6F2D27617}"/>
                </a:ext>
              </a:extLst>
            </p:cNvPr>
            <p:cNvSpPr/>
            <p:nvPr/>
          </p:nvSpPr>
          <p:spPr>
            <a:xfrm>
              <a:off x="492600" y="1315810"/>
              <a:ext cx="85268" cy="4420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AA7B177-8B78-FA8E-8247-E76AC41C62F3}"/>
                </a:ext>
              </a:extLst>
            </p:cNvPr>
            <p:cNvSpPr txBox="1"/>
            <p:nvPr/>
          </p:nvSpPr>
          <p:spPr>
            <a:xfrm>
              <a:off x="577868" y="1296157"/>
              <a:ext cx="29919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U-Net</a:t>
              </a:r>
              <a:r>
                <a:rPr lang="ko-KR" altLang="en-US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이 무엇인가</a:t>
              </a:r>
              <a:r>
                <a:rPr lang="en-US" altLang="ko-KR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?</a:t>
              </a:r>
              <a:endParaRPr lang="ko-KR" altLang="en-US" sz="2400" dirty="0"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endParaRPr>
            </a:p>
          </p:txBody>
        </p:sp>
      </p:grpSp>
      <p:pic>
        <p:nvPicPr>
          <p:cNvPr id="42" name="그림 41" descr="\documentclass{article}&#10;\usepackage{amsmath}&#10;\pagestyle{empty}&#10;\begin{document}&#10;&#10;$&#10;(u_i : integer)&#10;$&#10;&#10;&#10;\end{document}" title="IguanaTex Picture Display">
            <a:extLst>
              <a:ext uri="{FF2B5EF4-FFF2-40B4-BE49-F238E27FC236}">
                <a16:creationId xmlns:a16="http://schemas.microsoft.com/office/drawing/2014/main" id="{1A0239A9-BA53-2C6A-B2D0-1625EE79B0D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3614" y="4559485"/>
            <a:ext cx="2103120" cy="381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2338965-68AC-8A56-D232-E90A41343C86}"/>
              </a:ext>
            </a:extLst>
          </p:cNvPr>
          <p:cNvSpPr txBox="1"/>
          <p:nvPr/>
        </p:nvSpPr>
        <p:spPr>
          <a:xfrm>
            <a:off x="252632" y="447871"/>
            <a:ext cx="8533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/>
              <a:t>U-Net: Convolutional Networks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5214DB-F7F1-CA49-43F9-12D5ED8F8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65" y="2063679"/>
            <a:ext cx="5595891" cy="372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DEFAD1-1C91-2095-2B6D-1D99E3715A85}"/>
              </a:ext>
            </a:extLst>
          </p:cNvPr>
          <p:cNvSpPr txBox="1"/>
          <p:nvPr/>
        </p:nvSpPr>
        <p:spPr>
          <a:xfrm>
            <a:off x="610565" y="6043786"/>
            <a:ext cx="4969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200" dirty="0"/>
              <a:t>출처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kumimoji="1" lang="en" altLang="ko-KR" sz="1200" dirty="0"/>
              <a:t>https://</a:t>
            </a:r>
            <a:r>
              <a:rPr kumimoji="1" lang="en" altLang="ko-KR" sz="1200" dirty="0" err="1"/>
              <a:t>lmb.informatik.uni-freiburg.de</a:t>
            </a:r>
            <a:r>
              <a:rPr kumimoji="1" lang="en" altLang="ko-KR" sz="1200" dirty="0"/>
              <a:t>/people/</a:t>
            </a:r>
            <a:r>
              <a:rPr kumimoji="1" lang="en" altLang="ko-KR" sz="1200" dirty="0" err="1"/>
              <a:t>ronneber</a:t>
            </a:r>
            <a:r>
              <a:rPr kumimoji="1" lang="en" altLang="ko-KR" sz="1200" dirty="0"/>
              <a:t>/u-net/</a:t>
            </a:r>
            <a:endParaRPr kumimoji="1" lang="ko-Kore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1955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A95F2-76AD-0B9F-0644-E6E8BD06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122A0B-065A-A0FF-54D8-20B1AAFE8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-13424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C646F6-6720-53E5-1314-D390873D5A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6576128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56525C4-DFDA-6248-142A-A2EA26CB632F}"/>
              </a:ext>
            </a:extLst>
          </p:cNvPr>
          <p:cNvCxnSpPr>
            <a:cxnSpLocks/>
          </p:cNvCxnSpPr>
          <p:nvPr/>
        </p:nvCxnSpPr>
        <p:spPr>
          <a:xfrm>
            <a:off x="252632" y="1082439"/>
            <a:ext cx="11496255" cy="0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20BBEF-5075-2B6E-D6B4-EBEC2CB6D383}"/>
              </a:ext>
            </a:extLst>
          </p:cNvPr>
          <p:cNvSpPr txBox="1"/>
          <p:nvPr/>
        </p:nvSpPr>
        <p:spPr>
          <a:xfrm>
            <a:off x="6705599" y="1989888"/>
            <a:ext cx="4687615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CNN block : Conv -&gt; BN -&gt;  </a:t>
            </a:r>
            <a:r>
              <a:rPr lang="en-US" altLang="ko-KR" sz="2000" dirty="0" err="1">
                <a:latin typeface="Avenir Book" panose="02000503020000020003" pitchFamily="2" charset="0"/>
                <a:ea typeface="맑은 고딕" panose="020B0503020000020004" pitchFamily="34" charset="-127"/>
              </a:rPr>
              <a:t>ReLU</a:t>
            </a: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max pool : 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이미지 압축 </a:t>
            </a: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(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해상도 감소</a:t>
            </a: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)</a:t>
            </a:r>
          </a:p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Up conv : transpose conv</a:t>
            </a:r>
          </a:p>
          <a:p>
            <a:pPr lvl="1"/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이미지 공간 확장</a:t>
            </a: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Skip connection : 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위치 정보 보존</a:t>
            </a: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CF7E062-6C76-F6AD-A239-58607B5557B3}"/>
              </a:ext>
            </a:extLst>
          </p:cNvPr>
          <p:cNvGrpSpPr/>
          <p:nvPr/>
        </p:nvGrpSpPr>
        <p:grpSpPr>
          <a:xfrm>
            <a:off x="411193" y="1386395"/>
            <a:ext cx="6747347" cy="461665"/>
            <a:chOff x="492600" y="1296157"/>
            <a:chExt cx="3077193" cy="46166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135415D-DEC3-1A0D-3570-942E9FC05060}"/>
                </a:ext>
              </a:extLst>
            </p:cNvPr>
            <p:cNvSpPr/>
            <p:nvPr/>
          </p:nvSpPr>
          <p:spPr>
            <a:xfrm>
              <a:off x="492600" y="1315810"/>
              <a:ext cx="85268" cy="4420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E1B80AB-CA9B-BEF0-1807-2C35D5663D31}"/>
                </a:ext>
              </a:extLst>
            </p:cNvPr>
            <p:cNvSpPr txBox="1"/>
            <p:nvPr/>
          </p:nvSpPr>
          <p:spPr>
            <a:xfrm>
              <a:off x="577868" y="1296157"/>
              <a:ext cx="29919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왜 </a:t>
              </a:r>
              <a:r>
                <a:rPr lang="en-US" altLang="ko-KR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U-Net</a:t>
              </a:r>
              <a:r>
                <a:rPr lang="ko-KR" altLang="en-US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 인가</a:t>
              </a:r>
              <a:r>
                <a:rPr lang="en-US" altLang="ko-KR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?</a:t>
              </a:r>
              <a:endParaRPr lang="ko-KR" altLang="en-US" sz="2400" dirty="0"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endParaRPr>
            </a:p>
          </p:txBody>
        </p:sp>
      </p:grpSp>
      <p:pic>
        <p:nvPicPr>
          <p:cNvPr id="42" name="그림 41" descr="\documentclass{article}&#10;\usepackage{amsmath}&#10;\pagestyle{empty}&#10;\begin{document}&#10;&#10;$&#10;(u_i : integer)&#10;$&#10;&#10;&#10;\end{document}" title="IguanaTex Picture Display">
            <a:extLst>
              <a:ext uri="{FF2B5EF4-FFF2-40B4-BE49-F238E27FC236}">
                <a16:creationId xmlns:a16="http://schemas.microsoft.com/office/drawing/2014/main" id="{5FF86BC4-678A-9A74-5E27-25675052492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3614" y="4559485"/>
            <a:ext cx="2103120" cy="381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449D2BF-5B73-CA89-4291-5A0BA253BA4F}"/>
              </a:ext>
            </a:extLst>
          </p:cNvPr>
          <p:cNvSpPr txBox="1"/>
          <p:nvPr/>
        </p:nvSpPr>
        <p:spPr>
          <a:xfrm>
            <a:off x="252632" y="447871"/>
            <a:ext cx="8533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/>
              <a:t>U-Net: Convolutional Networks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8B6B1-12CB-A9FE-0F52-F4062B0F6A32}"/>
              </a:ext>
            </a:extLst>
          </p:cNvPr>
          <p:cNvSpPr txBox="1"/>
          <p:nvPr/>
        </p:nvSpPr>
        <p:spPr>
          <a:xfrm>
            <a:off x="411193" y="2268735"/>
            <a:ext cx="49694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프로젝트</a:t>
            </a:r>
            <a:r>
              <a:rPr kumimoji="1" lang="ko-KR" altLang="en-US" dirty="0"/>
              <a:t> 목적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스펙트로그램을</a:t>
            </a:r>
            <a:r>
              <a:rPr kumimoji="1" lang="ko-KR" altLang="en-US" dirty="0"/>
              <a:t> 이용한 </a:t>
            </a:r>
            <a:endParaRPr kumimoji="1" lang="en-US" altLang="ko-KR" dirty="0"/>
          </a:p>
          <a:p>
            <a:r>
              <a:rPr kumimoji="1" lang="ko-KR" altLang="en-US" dirty="0"/>
              <a:t>오디오 노이즈 제거</a:t>
            </a:r>
            <a:endParaRPr kumimoji="1" lang="en-US" altLang="ko-KR" dirty="0"/>
          </a:p>
          <a:p>
            <a:endParaRPr kumimoji="1" lang="en-US" altLang="ko-Kore-KR" dirty="0"/>
          </a:p>
          <a:p>
            <a:r>
              <a:rPr kumimoji="1" lang="ko-Kore-KR" altLang="en-US" dirty="0"/>
              <a:t>설계</a:t>
            </a:r>
            <a:r>
              <a:rPr kumimoji="1" lang="ko-KR" altLang="en-US" dirty="0"/>
              <a:t> 방향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입력 이미지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스펙트로그램</a:t>
            </a:r>
            <a:r>
              <a:rPr kumimoji="1" lang="en-US" altLang="ko-KR" dirty="0"/>
              <a:t>)</a:t>
            </a:r>
            <a:r>
              <a:rPr kumimoji="1" lang="ko-KR" altLang="en-US" dirty="0"/>
              <a:t>에서 </a:t>
            </a:r>
            <a:endParaRPr kumimoji="1" lang="en-US" altLang="ko-KR" dirty="0"/>
          </a:p>
          <a:p>
            <a:r>
              <a:rPr kumimoji="1" lang="ko-KR" altLang="en-US" dirty="0"/>
              <a:t>노이즈가 제거된 이미지를 얻고 이를 </a:t>
            </a:r>
            <a:endParaRPr kumimoji="1" lang="en-US" altLang="ko-KR" dirty="0"/>
          </a:p>
          <a:p>
            <a:r>
              <a:rPr kumimoji="1" lang="ko-KR" altLang="en-US" dirty="0" err="1"/>
              <a:t>역푸리에</a:t>
            </a:r>
            <a:r>
              <a:rPr kumimoji="1" lang="ko-KR" altLang="en-US" dirty="0"/>
              <a:t> 변환을 해서 깨끗한 소리를 얻자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endParaRPr kumimoji="1" lang="en-US" altLang="ko-Kore-KR" dirty="0"/>
          </a:p>
          <a:p>
            <a:r>
              <a:rPr kumimoji="1" lang="ko-KR" altLang="en-US" dirty="0"/>
              <a:t>기존 </a:t>
            </a:r>
            <a:r>
              <a:rPr kumimoji="1" lang="en-US" altLang="ko-KR" dirty="0"/>
              <a:t>CNN</a:t>
            </a:r>
            <a:r>
              <a:rPr kumimoji="1" lang="ko-KR" altLang="en-US" dirty="0"/>
              <a:t>은 이미지의 크기를 되돌리는 과정</a:t>
            </a:r>
            <a:r>
              <a:rPr kumimoji="1" lang="en-US" altLang="ko-KR" dirty="0"/>
              <a:t> x</a:t>
            </a:r>
          </a:p>
          <a:p>
            <a:endParaRPr kumimoji="1" lang="en-US" altLang="ko-Kore-KR" dirty="0"/>
          </a:p>
          <a:p>
            <a:r>
              <a:rPr kumimoji="1" lang="en-US" altLang="ko-Kore-KR" dirty="0"/>
              <a:t>U-Net</a:t>
            </a:r>
            <a:r>
              <a:rPr kumimoji="1" lang="ko-KR" altLang="en-US" dirty="0"/>
              <a:t>은 해상도를 높이는 과정에서</a:t>
            </a:r>
            <a:endParaRPr kumimoji="1" lang="en-US" altLang="ko-KR" dirty="0"/>
          </a:p>
          <a:p>
            <a:r>
              <a:rPr kumimoji="1" lang="en-US" altLang="ko-Kore-KR" dirty="0"/>
              <a:t>Skip connection</a:t>
            </a:r>
            <a:r>
              <a:rPr kumimoji="1" lang="ko-KR" altLang="en-US" dirty="0"/>
              <a:t>이라는 좋은 방법을 제시함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AEE31251-D9D8-C10E-854C-68E2775BB0D3}"/>
              </a:ext>
            </a:extLst>
          </p:cNvPr>
          <p:cNvCxnSpPr/>
          <p:nvPr/>
        </p:nvCxnSpPr>
        <p:spPr>
          <a:xfrm>
            <a:off x="515007" y="4214648"/>
            <a:ext cx="48656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82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5D72B-81A9-B945-0BCF-C42BE99B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D8B4CCC-4B1C-D8F4-5887-605D750E58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-13424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DF5A23-4282-4AC9-6CA2-4209A134A8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6576128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827CF58-3BE8-D0C2-34F8-81D6F0E8C92B}"/>
              </a:ext>
            </a:extLst>
          </p:cNvPr>
          <p:cNvCxnSpPr>
            <a:cxnSpLocks/>
          </p:cNvCxnSpPr>
          <p:nvPr/>
        </p:nvCxnSpPr>
        <p:spPr>
          <a:xfrm>
            <a:off x="252632" y="1082439"/>
            <a:ext cx="11496255" cy="0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C9952D-7108-5868-EB53-80FAC390FA3C}"/>
              </a:ext>
            </a:extLst>
          </p:cNvPr>
          <p:cNvGrpSpPr/>
          <p:nvPr/>
        </p:nvGrpSpPr>
        <p:grpSpPr>
          <a:xfrm>
            <a:off x="411193" y="1386395"/>
            <a:ext cx="6747347" cy="461665"/>
            <a:chOff x="492600" y="1296157"/>
            <a:chExt cx="3077193" cy="46166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7295FCC-5E11-36DB-5783-07F6FAC3D874}"/>
                </a:ext>
              </a:extLst>
            </p:cNvPr>
            <p:cNvSpPr/>
            <p:nvPr/>
          </p:nvSpPr>
          <p:spPr>
            <a:xfrm>
              <a:off x="492600" y="1315810"/>
              <a:ext cx="85268" cy="4420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43A6F6-EE97-A5D7-309A-8B2D1C8F5DF9}"/>
                </a:ext>
              </a:extLst>
            </p:cNvPr>
            <p:cNvSpPr txBox="1"/>
            <p:nvPr/>
          </p:nvSpPr>
          <p:spPr>
            <a:xfrm>
              <a:off x="577868" y="1296157"/>
              <a:ext cx="29919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왜 </a:t>
              </a:r>
              <a:r>
                <a:rPr lang="en-US" altLang="ko-KR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U-Net</a:t>
              </a:r>
              <a:r>
                <a:rPr lang="ko-KR" altLang="en-US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 인가</a:t>
              </a:r>
              <a:r>
                <a:rPr lang="en-US" altLang="ko-KR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?</a:t>
              </a:r>
              <a:endParaRPr lang="ko-KR" altLang="en-US" sz="2400" dirty="0"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endParaRPr>
            </a:p>
          </p:txBody>
        </p:sp>
      </p:grpSp>
      <p:pic>
        <p:nvPicPr>
          <p:cNvPr id="42" name="그림 41" descr="\documentclass{article}&#10;\usepackage{amsmath}&#10;\pagestyle{empty}&#10;\begin{document}&#10;&#10;$&#10;(u_i : integer)&#10;$&#10;&#10;&#10;\end{document}" title="IguanaTex Picture Display">
            <a:extLst>
              <a:ext uri="{FF2B5EF4-FFF2-40B4-BE49-F238E27FC236}">
                <a16:creationId xmlns:a16="http://schemas.microsoft.com/office/drawing/2014/main" id="{EF5FA03D-0C8E-936D-2B4F-80AEB6F3C3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3614" y="4559485"/>
            <a:ext cx="2103120" cy="381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78961EB-03BC-3FB8-FBFA-1F2DEC922EA3}"/>
              </a:ext>
            </a:extLst>
          </p:cNvPr>
          <p:cNvSpPr txBox="1"/>
          <p:nvPr/>
        </p:nvSpPr>
        <p:spPr>
          <a:xfrm>
            <a:off x="252632" y="447871"/>
            <a:ext cx="8533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/>
              <a:t>U-Net: Convolutional Networks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5984DA0-E995-DEB1-8B17-00CB0BFF9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054" y="2219149"/>
            <a:ext cx="5595891" cy="372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왼쪽 대괄호[L] 10">
            <a:extLst>
              <a:ext uri="{FF2B5EF4-FFF2-40B4-BE49-F238E27FC236}">
                <a16:creationId xmlns:a16="http://schemas.microsoft.com/office/drawing/2014/main" id="{F30CB5A2-C184-4E85-4E3E-3232E3C070CC}"/>
              </a:ext>
            </a:extLst>
          </p:cNvPr>
          <p:cNvSpPr/>
          <p:nvPr/>
        </p:nvSpPr>
        <p:spPr>
          <a:xfrm>
            <a:off x="3037490" y="2248729"/>
            <a:ext cx="367862" cy="357354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45CE0-9003-3343-16B9-2EC45BCC1A98}"/>
              </a:ext>
            </a:extLst>
          </p:cNvPr>
          <p:cNvSpPr txBox="1"/>
          <p:nvPr/>
        </p:nvSpPr>
        <p:spPr>
          <a:xfrm>
            <a:off x="735725" y="2219148"/>
            <a:ext cx="23017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Encoder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국소적 위치의 특징을 여러 채널로 분산해 압축한다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en-US" altLang="ko-Kore-KR" dirty="0"/>
              <a:t>Ex) </a:t>
            </a:r>
            <a:r>
              <a:rPr kumimoji="1" lang="ko-KR" altLang="en-US" dirty="0"/>
              <a:t>세포 덩어리에서 각 세포 사이의 거리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세포의 크기</a:t>
            </a:r>
            <a:r>
              <a:rPr kumimoji="1" lang="en-US" altLang="ko-KR" dirty="0"/>
              <a:t>,</a:t>
            </a:r>
            <a:r>
              <a:rPr kumimoji="1" lang="ko-KR" altLang="en-US" dirty="0"/>
              <a:t> 명암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세포막의 크기 등으로 분해</a:t>
            </a:r>
            <a:endParaRPr kumimoji="1" lang="ko-Kore-KR" altLang="en-US" dirty="0"/>
          </a:p>
        </p:txBody>
      </p:sp>
      <p:sp>
        <p:nvSpPr>
          <p:cNvPr id="19" name="왼쪽 대괄호[L] 18">
            <a:extLst>
              <a:ext uri="{FF2B5EF4-FFF2-40B4-BE49-F238E27FC236}">
                <a16:creationId xmlns:a16="http://schemas.microsoft.com/office/drawing/2014/main" id="{4F452798-AABA-D64D-DA07-834D8340C974}"/>
              </a:ext>
            </a:extLst>
          </p:cNvPr>
          <p:cNvSpPr/>
          <p:nvPr/>
        </p:nvSpPr>
        <p:spPr>
          <a:xfrm flipH="1">
            <a:off x="8610169" y="2265444"/>
            <a:ext cx="507583" cy="357354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0BA96A-A03F-1D21-F480-3AE62BEE2D54}"/>
              </a:ext>
            </a:extLst>
          </p:cNvPr>
          <p:cNvSpPr txBox="1"/>
          <p:nvPr/>
        </p:nvSpPr>
        <p:spPr>
          <a:xfrm flipH="1">
            <a:off x="9272321" y="2214358"/>
            <a:ext cx="24765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Decoder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저해상도 </a:t>
            </a:r>
            <a:r>
              <a:rPr kumimoji="1" lang="ko-KR" altLang="en-US" dirty="0" err="1"/>
              <a:t>특징맵으로</a:t>
            </a:r>
            <a:r>
              <a:rPr kumimoji="1" lang="ko-KR" altLang="en-US" dirty="0"/>
              <a:t> 끌어올리며 각 픽셀의 위치정보와 여러 채널로 분산했던 특징들을 통합한다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en-US" altLang="ko-Kore-KR" dirty="0"/>
              <a:t>Ex) </a:t>
            </a:r>
            <a:r>
              <a:rPr kumimoji="1" lang="ko-KR" altLang="en-US" dirty="0"/>
              <a:t>세포 정보를 통해 암세포인지 구별하고 그 세포 픽셀의 위치를 결정한다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C1C305-4872-C779-AD36-F0A28513F086}"/>
              </a:ext>
            </a:extLst>
          </p:cNvPr>
          <p:cNvSpPr txBox="1"/>
          <p:nvPr/>
        </p:nvSpPr>
        <p:spPr>
          <a:xfrm>
            <a:off x="3657631" y="5838985"/>
            <a:ext cx="4204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dirty="0" err="1"/>
              <a:t>BottleNeck</a:t>
            </a:r>
            <a:endParaRPr kumimoji="1" lang="en-US" altLang="ko-Kore-KR" dirty="0"/>
          </a:p>
          <a:p>
            <a:r>
              <a:rPr kumimoji="1" lang="ko-Kore-KR" altLang="en-US" dirty="0"/>
              <a:t>가장</a:t>
            </a:r>
            <a:r>
              <a:rPr kumimoji="1" lang="ko-KR" altLang="en-US" dirty="0"/>
              <a:t> 추상적이고 고수준의 표현을 학습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7616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D42D-BFCE-AF4E-22AD-312063F03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DA7E9FE-875F-2494-86D4-56F9D1D6E3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-13424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9753C0-1962-11A6-4436-271C4E5798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6576128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703F4E7-6550-6A77-CDB2-F62D0A92ADDE}"/>
              </a:ext>
            </a:extLst>
          </p:cNvPr>
          <p:cNvCxnSpPr>
            <a:cxnSpLocks/>
          </p:cNvCxnSpPr>
          <p:nvPr/>
        </p:nvCxnSpPr>
        <p:spPr>
          <a:xfrm>
            <a:off x="252632" y="1082439"/>
            <a:ext cx="11496255" cy="0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34B1DD-DB08-B846-5A91-180650473DB9}"/>
              </a:ext>
            </a:extLst>
          </p:cNvPr>
          <p:cNvSpPr txBox="1"/>
          <p:nvPr/>
        </p:nvSpPr>
        <p:spPr>
          <a:xfrm>
            <a:off x="6705599" y="1989888"/>
            <a:ext cx="5139560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Conv(padding=1) -&gt; 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계산 과정에서 이점</a:t>
            </a: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(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순전파와 역전파때 데이터의 크기를 자르고 늘리는 과정 </a:t>
            </a: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x)</a:t>
            </a:r>
          </a:p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Max pool 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대신 </a:t>
            </a:r>
            <a:r>
              <a:rPr lang="en-US" altLang="ko-KR" sz="2000" dirty="0" err="1">
                <a:latin typeface="Avenir Book" panose="02000503020000020003" pitchFamily="2" charset="0"/>
                <a:ea typeface="맑은 고딕" panose="020B0503020000020004" pitchFamily="34" charset="-127"/>
              </a:rPr>
              <a:t>strided</a:t>
            </a: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 convolution with stride=2</a:t>
            </a:r>
          </a:p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출력 전에 </a:t>
            </a: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Fully Convolution Layer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 결합</a:t>
            </a: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    -&gt; </a:t>
            </a:r>
            <a:r>
              <a:rPr lang="ko-KR" altLang="en-US" sz="2000" dirty="0" err="1">
                <a:latin typeface="Avenir Book" panose="02000503020000020003" pitchFamily="2" charset="0"/>
                <a:ea typeface="맑은 고딕" panose="020B0503020000020004" pitchFamily="34" charset="-127"/>
              </a:rPr>
              <a:t>채널수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 조절</a:t>
            </a:r>
            <a:r>
              <a:rPr lang="en-US" altLang="ko-KR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,</a:t>
            </a:r>
            <a:r>
              <a:rPr lang="ko-KR" altLang="en-US" sz="2000" dirty="0">
                <a:latin typeface="Avenir Book" panose="02000503020000020003" pitchFamily="2" charset="0"/>
                <a:ea typeface="맑은 고딕" panose="020B0503020000020004" pitchFamily="34" charset="-127"/>
              </a:rPr>
              <a:t> </a:t>
            </a: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  <a:p>
            <a:pPr marL="187325" indent="-187325">
              <a:buFont typeface="Arial" panose="020B0604020202020204" pitchFamily="34" charset="0"/>
              <a:buChar char="•"/>
            </a:pPr>
            <a:endParaRPr lang="en-US" altLang="ko-KR" sz="2000" dirty="0">
              <a:latin typeface="Avenir Book" panose="02000503020000020003" pitchFamily="2" charset="0"/>
              <a:ea typeface="맑은 고딕" panose="020B0503020000020004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9E5BF37-15EC-542F-6A97-3342ABA168F6}"/>
              </a:ext>
            </a:extLst>
          </p:cNvPr>
          <p:cNvGrpSpPr/>
          <p:nvPr/>
        </p:nvGrpSpPr>
        <p:grpSpPr>
          <a:xfrm>
            <a:off x="411193" y="1386395"/>
            <a:ext cx="6747347" cy="461665"/>
            <a:chOff x="492600" y="1296157"/>
            <a:chExt cx="3077193" cy="46166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DBAB730-70BE-51C6-4FB1-14019076F3AE}"/>
                </a:ext>
              </a:extLst>
            </p:cNvPr>
            <p:cNvSpPr/>
            <p:nvPr/>
          </p:nvSpPr>
          <p:spPr>
            <a:xfrm>
              <a:off x="492600" y="1315810"/>
              <a:ext cx="85268" cy="4420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AD56ECD-0EB4-CEDD-016F-2A40AD3AC73B}"/>
                </a:ext>
              </a:extLst>
            </p:cNvPr>
            <p:cNvSpPr txBox="1"/>
            <p:nvPr/>
          </p:nvSpPr>
          <p:spPr>
            <a:xfrm>
              <a:off x="577868" y="1296157"/>
              <a:ext cx="29919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2400" dirty="0"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rPr>
                <a:t>Model architecture</a:t>
              </a:r>
              <a:endParaRPr lang="ko-KR" altLang="en-US" sz="2400" dirty="0"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endParaRPr>
            </a:p>
          </p:txBody>
        </p:sp>
      </p:grpSp>
      <p:pic>
        <p:nvPicPr>
          <p:cNvPr id="42" name="그림 41" descr="\documentclass{article}&#10;\usepackage{amsmath}&#10;\pagestyle{empty}&#10;\begin{document}&#10;&#10;$&#10;(u_i : integer)&#10;$&#10;&#10;&#10;\end{document}" title="IguanaTex Picture Display">
            <a:extLst>
              <a:ext uri="{FF2B5EF4-FFF2-40B4-BE49-F238E27FC236}">
                <a16:creationId xmlns:a16="http://schemas.microsoft.com/office/drawing/2014/main" id="{47A71284-1EAE-3BB6-CE8B-70AD0895FC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3614" y="4559485"/>
            <a:ext cx="2103120" cy="381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1C98FF1-8B52-81DE-C4A7-53F8E02759EF}"/>
              </a:ext>
            </a:extLst>
          </p:cNvPr>
          <p:cNvSpPr txBox="1"/>
          <p:nvPr/>
        </p:nvSpPr>
        <p:spPr>
          <a:xfrm>
            <a:off x="252632" y="447871"/>
            <a:ext cx="8533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/>
              <a:t>U-Net: Convolutional Networks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8038E83-D11D-ED3C-5F68-9CAEE63DF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65" y="2063679"/>
            <a:ext cx="5595891" cy="372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1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7DCFF1-DED1-4D03-D57C-841FBE340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-13424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69660A-F006-0BC2-4382-3CB5314C4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09600" y="6576128"/>
            <a:ext cx="13411200" cy="2952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298BF-0C5B-6E82-A295-C0350127A40F}"/>
              </a:ext>
            </a:extLst>
          </p:cNvPr>
          <p:cNvSpPr txBox="1"/>
          <p:nvPr/>
        </p:nvSpPr>
        <p:spPr>
          <a:xfrm>
            <a:off x="353536" y="1720468"/>
            <a:ext cx="12342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25-2 </a:t>
            </a:r>
            <a:r>
              <a:rPr lang="ko-KR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딥러닝 기말 프로젝트 </a:t>
            </a:r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ko-KR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차 발표</a:t>
            </a:r>
            <a:endParaRPr lang="en-US" altLang="ko-K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7E194-BD0B-937C-3AF1-1A1A347C7EAA}"/>
              </a:ext>
            </a:extLst>
          </p:cNvPr>
          <p:cNvSpPr txBox="1"/>
          <p:nvPr/>
        </p:nvSpPr>
        <p:spPr>
          <a:xfrm>
            <a:off x="353536" y="2720651"/>
            <a:ext cx="1082132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“</a:t>
            </a:r>
            <a:r>
              <a:rPr lang="ko-KR" altLang="en-US" sz="4800" b="1" dirty="0"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감사합니다</a:t>
            </a:r>
            <a:r>
              <a:rPr lang="en-US" altLang="ko-KR" sz="4800" b="1" dirty="0"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”</a:t>
            </a:r>
            <a:endParaRPr lang="ko-KR" altLang="en-US" sz="4800" b="1" dirty="0"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7EDD7-C6D1-ABB8-25ED-C9F3F1F7F3B0}"/>
              </a:ext>
            </a:extLst>
          </p:cNvPr>
          <p:cNvSpPr txBox="1"/>
          <p:nvPr/>
        </p:nvSpPr>
        <p:spPr>
          <a:xfrm>
            <a:off x="7003075" y="3926887"/>
            <a:ext cx="46848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맑은 고딕"/>
              </a:rPr>
              <a:t>   </a:t>
            </a:r>
            <a:r>
              <a:rPr lang="en-US" altLang="ko-KR" sz="2400" dirty="0">
                <a:latin typeface="+mj-lt"/>
                <a:ea typeface="맑은 고딕"/>
              </a:rPr>
              <a:t> 1</a:t>
            </a:r>
            <a:r>
              <a:rPr lang="ko-KR" altLang="en-US" sz="2400" dirty="0">
                <a:latin typeface="+mj-lt"/>
                <a:ea typeface="맑은 고딕"/>
              </a:rPr>
              <a:t>조</a:t>
            </a:r>
            <a:r>
              <a:rPr lang="en-US" altLang="ko-KR" sz="2400" dirty="0">
                <a:latin typeface="+mj-lt"/>
                <a:ea typeface="맑은 고딕"/>
              </a:rPr>
              <a:t>(</a:t>
            </a:r>
            <a:r>
              <a:rPr lang="ko-KR" altLang="en-US" sz="2400" dirty="0">
                <a:latin typeface="+mj-lt"/>
                <a:ea typeface="맑은 고딕"/>
              </a:rPr>
              <a:t>곽나경</a:t>
            </a:r>
            <a:r>
              <a:rPr lang="en-US" altLang="ko-KR" sz="2400" dirty="0">
                <a:latin typeface="+mj-lt"/>
                <a:ea typeface="맑은 고딕"/>
              </a:rPr>
              <a:t>, </a:t>
            </a:r>
            <a:r>
              <a:rPr lang="ko-KR" altLang="en-US" sz="2400" dirty="0" err="1">
                <a:latin typeface="+mj-lt"/>
                <a:ea typeface="맑은 고딕"/>
              </a:rPr>
              <a:t>이규현</a:t>
            </a:r>
            <a:r>
              <a:rPr lang="en-US" altLang="ko-KR" sz="2400" dirty="0">
                <a:latin typeface="+mj-lt"/>
                <a:ea typeface="맑은 고딕"/>
              </a:rPr>
              <a:t>, </a:t>
            </a:r>
            <a:r>
              <a:rPr lang="ko-KR" altLang="en-US" sz="2400" dirty="0">
                <a:latin typeface="+mj-lt"/>
                <a:ea typeface="맑은 고딕"/>
              </a:rPr>
              <a:t>정세현</a:t>
            </a:r>
            <a:r>
              <a:rPr lang="en-US" altLang="ko-KR" sz="2400" dirty="0">
                <a:latin typeface="+mj-lt"/>
                <a:ea typeface="맑은 고딕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BBE76-C914-3599-7604-7D663962757B}"/>
              </a:ext>
            </a:extLst>
          </p:cNvPr>
          <p:cNvSpPr txBox="1"/>
          <p:nvPr/>
        </p:nvSpPr>
        <p:spPr>
          <a:xfrm>
            <a:off x="7003075" y="4492818"/>
            <a:ext cx="46848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2400" dirty="0">
                <a:latin typeface="+mj-lt"/>
                <a:ea typeface="맑은 고딕"/>
              </a:rPr>
              <a:t>2025.12.04.</a:t>
            </a:r>
          </a:p>
        </p:txBody>
      </p:sp>
    </p:spTree>
    <p:extLst>
      <p:ext uri="{BB962C8B-B14F-4D97-AF65-F5344CB8AC3E}">
        <p14:creationId xmlns:p14="http://schemas.microsoft.com/office/powerpoint/2010/main" val="31461440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"/>
  <p:tag name="ORIGINALWIDTH" val=" 690"/>
  <p:tag name="OUTPUTTYPE" val="PNG"/>
  <p:tag name="IGUANATEXVERSION" val="162"/>
  <p:tag name="LATEXADDIN" val="\documentclass{article}&#10;\usepackage{amsmath}&#10;\pagestyle{empty}&#10;\begin{document}&#10;&#10;$&#10;(u_i : integer)&#10;$&#10;&#10;&#10;\end{document}"/>
  <p:tag name="IGUANATEXSIZE" val="30"/>
  <p:tag name="IGUANATEXCURSOR" val="98"/>
  <p:tag name="TRANSPARENCY" val="True"/>
  <p:tag name="CHOOSECOLOR" val="False"/>
  <p:tag name="COLORHEX" val="000000"/>
  <p:tag name="LATEXENGINEID" val="0"/>
  <p:tag name="TEMPFOLDER" val="/Users/kyuhyeo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"/>
  <p:tag name="ORIGINALWIDTH" val=" 690"/>
  <p:tag name="OUTPUTTYPE" val="PNG"/>
  <p:tag name="IGUANATEXVERSION" val="162"/>
  <p:tag name="LATEXADDIN" val="\documentclass{article}&#10;\usepackage{amsmath}&#10;\pagestyle{empty}&#10;\begin{document}&#10;&#10;$&#10;(u_i : integer)&#10;$&#10;&#10;&#10;\end{document}"/>
  <p:tag name="IGUANATEXSIZE" val="30"/>
  <p:tag name="IGUANATEXCURSOR" val="98"/>
  <p:tag name="TRANSPARENCY" val="True"/>
  <p:tag name="CHOOSECOLOR" val="False"/>
  <p:tag name="COLORHEX" val="000000"/>
  <p:tag name="LATEXENGINEID" val="0"/>
  <p:tag name="TEMPFOLDER" val="/Users/kyuhyeo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"/>
  <p:tag name="ORIGINALWIDTH" val=" 690"/>
  <p:tag name="OUTPUTTYPE" val="PNG"/>
  <p:tag name="IGUANATEXVERSION" val="162"/>
  <p:tag name="LATEXADDIN" val="\documentclass{article}&#10;\usepackage{amsmath}&#10;\pagestyle{empty}&#10;\begin{document}&#10;&#10;$&#10;(u_i : integer)&#10;$&#10;&#10;&#10;\end{document}"/>
  <p:tag name="IGUANATEXSIZE" val="30"/>
  <p:tag name="IGUANATEXCURSOR" val="98"/>
  <p:tag name="TRANSPARENCY" val="True"/>
  <p:tag name="CHOOSECOLOR" val="False"/>
  <p:tag name="COLORHEX" val="000000"/>
  <p:tag name="LATEXENGINEID" val="0"/>
  <p:tag name="TEMPFOLDER" val="/Users/kyuhyeo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"/>
  <p:tag name="ORIGINALWIDTH" val=" 690"/>
  <p:tag name="OUTPUTTYPE" val="PNG"/>
  <p:tag name="IGUANATEXVERSION" val="162"/>
  <p:tag name="LATEXADDIN" val="\documentclass{article}&#10;\usepackage{amsmath}&#10;\pagestyle{empty}&#10;\begin{document}&#10;&#10;$&#10;(u_i : integer)&#10;$&#10;&#10;&#10;\end{document}"/>
  <p:tag name="IGUANATEXSIZE" val="30"/>
  <p:tag name="IGUANATEXCURSOR" val="98"/>
  <p:tag name="TRANSPARENCY" val="True"/>
  <p:tag name="CHOOSECOLOR" val="False"/>
  <p:tag name="COLORHEX" val="000000"/>
  <p:tag name="LATEXENGINEID" val="0"/>
  <p:tag name="TEMPFOLDER" val="/Users/kyuhyeo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"/>
  <p:tag name="ORIGINALWIDTH" val=" 690"/>
  <p:tag name="OUTPUTTYPE" val="PNG"/>
  <p:tag name="IGUANATEXVERSION" val="162"/>
  <p:tag name="LATEXADDIN" val="\documentclass{article}&#10;\usepackage{amsmath}&#10;\pagestyle{empty}&#10;\begin{document}&#10;&#10;$&#10;(u_i : integer)&#10;$&#10;&#10;&#10;\end{document}"/>
  <p:tag name="IGUANATEXSIZE" val="30"/>
  <p:tag name="IGUANATEXCURSOR" val="98"/>
  <p:tag name="TRANSPARENCY" val="True"/>
  <p:tag name="CHOOSECOLOR" val="False"/>
  <p:tag name="COLORHEX" val="000000"/>
  <p:tag name="LATEXENGINEID" val="0"/>
  <p:tag name="TEMPFOLDER" val="/Users/kyuhyeo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24037</TotalTime>
  <Words>339</Words>
  <Application>Microsoft Macintosh PowerPoint</Application>
  <PresentationFormat>와이드스크린</PresentationFormat>
  <Paragraphs>74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Avenir Book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양인성</dc:creator>
  <cp:lastModifiedBy>세현 정</cp:lastModifiedBy>
  <cp:revision>459</cp:revision>
  <dcterms:created xsi:type="dcterms:W3CDTF">2024-09-12T23:48:07Z</dcterms:created>
  <dcterms:modified xsi:type="dcterms:W3CDTF">2025-12-03T08:03:39Z</dcterms:modified>
</cp:coreProperties>
</file>